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 w="9525">
            <a:solidFill>
              <a:srgbClr val="F7F7F5"/>
            </a:solidFill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94360" y="310896"/>
            <a:ext cx="6400800" cy="32004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1100" b="1">
                <a:solidFill>
                  <a:srgbClr val="2563EB"/>
                </a:solidFill>
                <a:latin typeface="Noto Sans Thai"/>
                <a:ea typeface="Noto Sans Thai"/>
                <a:cs typeface="Noto Sans Thai"/>
              </a:rPr>
              <a:t>Software Developer Assignment / Part 1</a:t>
            </a:r>
            <a:endParaRPr lang="th-TH" sz="1100"/>
          </a:p>
        </p:txBody>
      </p:sp>
      <p:sp>
        <p:nvSpPr>
          <p:cNvPr id="4" name="Text 4"/>
          <p:cNvSpPr txBox="1"/>
          <p:nvPr/>
        </p:nvSpPr>
        <p:spPr>
          <a:xfrm>
            <a:off x="9326880" y="310896"/>
            <a:ext cx="2194560" cy="32004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th-TH" sz="900" b="1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Process &amp; System Optimization</a:t>
            </a:r>
            <a:endParaRPr lang="th-TH" sz="900"/>
          </a:p>
        </p:txBody>
      </p:sp>
      <p:sp>
        <p:nvSpPr>
          <p:cNvPr id="5" name="Text 5"/>
          <p:cNvSpPr txBox="1"/>
          <p:nvPr/>
        </p:nvSpPr>
        <p:spPr>
          <a:xfrm>
            <a:off x="594360" y="960120"/>
            <a:ext cx="5623560" cy="150876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3800" b="1">
                <a:solidFill>
                  <a:srgbClr val="171717"/>
                </a:solidFill>
                <a:latin typeface="Noto Sans Thai"/>
                <a:ea typeface="Noto Sans Thai"/>
                <a:cs typeface="Noto Sans Thai"/>
              </a:rPr>
              <a:t>เริ่มโปรเจกต์ถัดไปให้เร็วขึ้น โดยไม่ลดคุณภาพงาน</a:t>
            </a:r>
            <a:endParaRPr lang="th-TH" sz="3800"/>
          </a:p>
        </p:txBody>
      </p:sp>
      <p:sp>
        <p:nvSpPr>
          <p:cNvPr id="6" name="Text 6"/>
          <p:cNvSpPr txBox="1"/>
          <p:nvPr/>
        </p:nvSpPr>
        <p:spPr>
          <a:xfrm>
            <a:off x="621792" y="2542032"/>
            <a:ext cx="5394960" cy="77724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170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แนวทางสำหรับทีมที่ดูแลหลายโปรเจกต์ซึ่งมี Feature และ UI คล้ายกัน แต่ต่างกันที่ Business Logic หรือ Design Token</a:t>
            </a:r>
            <a:endParaRPr lang="th-TH" sz="1700"/>
          </a:p>
        </p:txBody>
      </p:sp>
      <p:sp>
        <p:nvSpPr>
          <p:cNvPr id="7" name="Shape 7"/>
          <p:cNvSpPr/>
          <p:nvPr/>
        </p:nvSpPr>
        <p:spPr>
          <a:xfrm>
            <a:off x="6446520" y="1234440"/>
            <a:ext cx="484632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C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6812280" y="1600200"/>
            <a:ext cx="4114800" cy="41148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2000" b="1">
                <a:solidFill>
                  <a:srgbClr val="171717"/>
                </a:solidFill>
                <a:latin typeface="Noto Sans Thai"/>
                <a:ea typeface="Noto Sans Thai"/>
                <a:cs typeface="Noto Sans Thai"/>
              </a:rPr>
              <a:t>Talk Track</a:t>
            </a:r>
            <a:endParaRPr lang="th-TH" sz="2000"/>
          </a:p>
        </p:txBody>
      </p:sp>
      <p:sp>
        <p:nvSpPr>
          <p:cNvPr id="9" name="Text 9"/>
          <p:cNvSpPr txBox="1"/>
          <p:nvPr/>
        </p:nvSpPr>
        <p:spPr>
          <a:xfrm>
            <a:off x="6903720" y="2331720"/>
            <a:ext cx="3840480" cy="38404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Problem ที่มองเห็น</a:t>
            </a:r>
            <a:endParaRPr lang="th-TH" sz="1400"/>
          </a:p>
        </p:txBody>
      </p:sp>
      <p:sp>
        <p:nvSpPr>
          <p:cNvPr id="10" name="Text 10"/>
          <p:cNvSpPr txBox="1"/>
          <p:nvPr/>
        </p:nvSpPr>
        <p:spPr>
          <a:xfrm>
            <a:off x="6903720" y="2898648"/>
            <a:ext cx="3840480" cy="38404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Reusable foundation</a:t>
            </a:r>
            <a:endParaRPr lang="th-TH" sz="1400"/>
          </a:p>
        </p:txBody>
      </p:sp>
      <p:sp>
        <p:nvSpPr>
          <p:cNvPr id="11" name="Text 11"/>
          <p:cNvSpPr txBox="1"/>
          <p:nvPr/>
        </p:nvSpPr>
        <p:spPr>
          <a:xfrm>
            <a:off x="6903720" y="3465576"/>
            <a:ext cx="3840480" cy="38404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Architecture choice</a:t>
            </a:r>
            <a:endParaRPr lang="th-TH" sz="1400"/>
          </a:p>
        </p:txBody>
      </p:sp>
      <p:sp>
        <p:nvSpPr>
          <p:cNvPr id="12" name="Text 12"/>
          <p:cNvSpPr txBox="1"/>
          <p:nvPr/>
        </p:nvSpPr>
        <p:spPr>
          <a:xfrm>
            <a:off x="6903720" y="4032504"/>
            <a:ext cx="3840480" cy="38404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Quality gate</a:t>
            </a:r>
            <a:endParaRPr lang="th-TH" sz="1400"/>
          </a:p>
        </p:txBody>
      </p:sp>
      <p:sp>
        <p:nvSpPr>
          <p:cNvPr id="13" name="Text 13"/>
          <p:cNvSpPr txBox="1"/>
          <p:nvPr/>
        </p:nvSpPr>
        <p:spPr>
          <a:xfrm>
            <a:off x="6903720" y="4599432"/>
            <a:ext cx="3840480" cy="38404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Trade-off และข้อจำกัด</a:t>
            </a:r>
            <a:endParaRPr lang="th-TH" sz="1400"/>
          </a:p>
        </p:txBody>
      </p:sp>
      <p:cxnSp>
        <p:nvCxnSpPr>
          <p:cNvPr id="14" name="Line 14"/>
          <p:cNvCxnSpPr/>
          <p:nvPr/>
        </p:nvCxnSpPr>
        <p:spPr>
          <a:xfrm>
            <a:off x="594360" y="6355080"/>
            <a:ext cx="10972800" cy="0"/>
          </a:xfrm>
          <a:prstGeom prst="line">
            <a:avLst/>
          </a:prstGeom>
          <a:ln w="25400">
            <a:solidFill>
              <a:srgbClr val="E4E7EC"/>
            </a:solidFill>
          </a:ln>
        </p:spPr>
      </p:cxnSp>
      <p:sp>
        <p:nvSpPr>
          <p:cNvPr id="15" name="Text 15"/>
          <p:cNvSpPr txBox="1"/>
          <p:nvPr/>
        </p:nvSpPr>
        <p:spPr>
          <a:xfrm>
            <a:off x="594360" y="6428232"/>
            <a:ext cx="1828800" cy="22860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1000" b="1">
                <a:solidFill>
                  <a:srgbClr val="98A2B3"/>
                </a:solidFill>
                <a:latin typeface="Noto Sans Thai"/>
                <a:ea typeface="Noto Sans Thai"/>
                <a:cs typeface="Noto Sans Thai"/>
              </a:rPr>
              <a:t>01</a:t>
            </a:r>
            <a:endParaRPr lang="th-TH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 w="9525">
            <a:solidFill>
              <a:srgbClr val="F7F7F5"/>
            </a:solidFill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94360" y="310896"/>
            <a:ext cx="6400800" cy="32004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1100" b="1">
                <a:solidFill>
                  <a:srgbClr val="2563EB"/>
                </a:solidFill>
                <a:latin typeface="Noto Sans Thai"/>
                <a:ea typeface="Noto Sans Thai"/>
                <a:cs typeface="Noto Sans Thai"/>
              </a:rPr>
              <a:t>Software Developer Assignment / Part 1</a:t>
            </a:r>
            <a:endParaRPr lang="th-TH" sz="1100"/>
          </a:p>
        </p:txBody>
      </p:sp>
      <p:sp>
        <p:nvSpPr>
          <p:cNvPr id="4" name="Text 4"/>
          <p:cNvSpPr txBox="1"/>
          <p:nvPr/>
        </p:nvSpPr>
        <p:spPr>
          <a:xfrm>
            <a:off x="9326880" y="310896"/>
            <a:ext cx="2194560" cy="32004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th-TH" sz="900" b="1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Process &amp; System Optimization</a:t>
            </a:r>
            <a:endParaRPr lang="th-TH" sz="900"/>
          </a:p>
        </p:txBody>
      </p:sp>
      <p:sp>
        <p:nvSpPr>
          <p:cNvPr id="5" name="Text 5"/>
          <p:cNvSpPr txBox="1"/>
          <p:nvPr/>
        </p:nvSpPr>
        <p:spPr>
          <a:xfrm>
            <a:off x="594360" y="960120"/>
            <a:ext cx="5623560" cy="150876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3800" b="1">
                <a:solidFill>
                  <a:srgbClr val="171717"/>
                </a:solidFill>
                <a:latin typeface="Noto Sans Thai"/>
                <a:ea typeface="Noto Sans Thai"/>
                <a:cs typeface="Noto Sans Thai"/>
              </a:rPr>
              <a:t>Problem: งานซ้ำทำให้ทีมช้าและคุณภาพแกว่ง</a:t>
            </a:r>
            <a:endParaRPr lang="th-TH" sz="3800"/>
          </a:p>
        </p:txBody>
      </p:sp>
      <p:sp>
        <p:nvSpPr>
          <p:cNvPr id="6" name="Text 6"/>
          <p:cNvSpPr txBox="1"/>
          <p:nvPr/>
        </p:nvSpPr>
        <p:spPr>
          <a:xfrm>
            <a:off x="621792" y="2542032"/>
            <a:ext cx="5394960" cy="77724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170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เมื่อทุกโปรเจกต์เริ่มจากศูนย์ ทีมจะเสียเวลากับเรื่องที่ควรเป็นมาตรฐานแล้ว</a:t>
            </a:r>
            <a:endParaRPr lang="th-TH" sz="1700"/>
          </a:p>
        </p:txBody>
      </p:sp>
      <p:sp>
        <p:nvSpPr>
          <p:cNvPr id="7" name="Shape 7"/>
          <p:cNvSpPr/>
          <p:nvPr/>
        </p:nvSpPr>
        <p:spPr>
          <a:xfrm>
            <a:off x="594360" y="3520440"/>
            <a:ext cx="53492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C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822960" y="3639312"/>
            <a:ext cx="4846320" cy="33832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Setup routing, layout, form, table, modal และ admin flow ซ้ำ</a:t>
            </a:r>
            <a:endParaRPr lang="th-TH" sz="1400"/>
          </a:p>
        </p:txBody>
      </p:sp>
      <p:sp>
        <p:nvSpPr>
          <p:cNvPr id="9" name="Shape 9"/>
          <p:cNvSpPr/>
          <p:nvPr/>
        </p:nvSpPr>
        <p:spPr>
          <a:xfrm>
            <a:off x="594360" y="4233672"/>
            <a:ext cx="53492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C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822960" y="4352544"/>
            <a:ext cx="4846320" cy="33832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Component ที่เคยผ่าน QA แล้วยังถูกตรวจซ้ำทุกโปรเจกต์</a:t>
            </a:r>
            <a:endParaRPr lang="th-TH" sz="1400"/>
          </a:p>
        </p:txBody>
      </p:sp>
      <p:sp>
        <p:nvSpPr>
          <p:cNvPr id="11" name="Shape 11"/>
          <p:cNvSpPr/>
          <p:nvPr/>
        </p:nvSpPr>
        <p:spPr>
          <a:xfrm>
            <a:off x="594360" y="4946904"/>
            <a:ext cx="53492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C"/>
            </a:solidFill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822960" y="5065776"/>
            <a:ext cx="4846320" cy="33832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UX/UI และ validation ไม่สม่ำเสมอเมื่อแต่ละทีม implement เอง</a:t>
            </a:r>
            <a:endParaRPr lang="th-TH" sz="1400"/>
          </a:p>
        </p:txBody>
      </p:sp>
      <p:sp>
        <p:nvSpPr>
          <p:cNvPr id="13" name="Shape 13"/>
          <p:cNvSpPr/>
          <p:nvPr/>
        </p:nvSpPr>
        <p:spPr>
          <a:xfrm>
            <a:off x="6446520" y="1234440"/>
            <a:ext cx="484632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C"/>
            </a:solidFill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6812280" y="1600200"/>
            <a:ext cx="4114800" cy="41148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2000" b="1">
                <a:solidFill>
                  <a:srgbClr val="171717"/>
                </a:solidFill>
                <a:latin typeface="Noto Sans Thai"/>
                <a:ea typeface="Noto Sans Thai"/>
                <a:cs typeface="Noto Sans Thai"/>
              </a:rPr>
              <a:t>Key Message</a:t>
            </a:r>
            <a:endParaRPr lang="th-TH" sz="2000"/>
          </a:p>
        </p:txBody>
      </p:sp>
      <p:sp>
        <p:nvSpPr>
          <p:cNvPr id="15" name="Text 15"/>
          <p:cNvSpPr txBox="1"/>
          <p:nvPr/>
        </p:nvSpPr>
        <p:spPr>
          <a:xfrm>
            <a:off x="6903720" y="2331720"/>
            <a:ext cx="3840480" cy="38404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ปัญหาไม่ใช่แค่เขียนโค้ดช้า</a:t>
            </a:r>
            <a:endParaRPr lang="th-TH" sz="1400"/>
          </a:p>
        </p:txBody>
      </p:sp>
      <p:sp>
        <p:nvSpPr>
          <p:cNvPr id="16" name="Text 16"/>
          <p:cNvSpPr txBox="1"/>
          <p:nvPr/>
        </p:nvSpPr>
        <p:spPr>
          <a:xfrm>
            <a:off x="6903720" y="2898648"/>
            <a:ext cx="3840480" cy="38404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แต่คือไม่มี foundation กลาง</a:t>
            </a:r>
            <a:endParaRPr lang="th-TH" sz="1400"/>
          </a:p>
        </p:txBody>
      </p:sp>
      <p:sp>
        <p:nvSpPr>
          <p:cNvPr id="17" name="Text 17"/>
          <p:cNvSpPr txBox="1"/>
          <p:nvPr/>
        </p:nvSpPr>
        <p:spPr>
          <a:xfrm>
            <a:off x="6903720" y="3465576"/>
            <a:ext cx="3840480" cy="38404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QA ใช้เวลากับเรื่องเดิมมากเกินไป</a:t>
            </a:r>
            <a:endParaRPr lang="th-TH" sz="1400"/>
          </a:p>
        </p:txBody>
      </p:sp>
      <p:cxnSp>
        <p:nvCxnSpPr>
          <p:cNvPr id="18" name="Line 18"/>
          <p:cNvCxnSpPr/>
          <p:nvPr/>
        </p:nvCxnSpPr>
        <p:spPr>
          <a:xfrm>
            <a:off x="594360" y="6355080"/>
            <a:ext cx="10972800" cy="0"/>
          </a:xfrm>
          <a:prstGeom prst="line">
            <a:avLst/>
          </a:prstGeom>
          <a:ln w="25400">
            <a:solidFill>
              <a:srgbClr val="E4E7EC"/>
            </a:solidFill>
          </a:ln>
        </p:spPr>
      </p:cxnSp>
      <p:sp>
        <p:nvSpPr>
          <p:cNvPr id="19" name="Text 19"/>
          <p:cNvSpPr txBox="1"/>
          <p:nvPr/>
        </p:nvSpPr>
        <p:spPr>
          <a:xfrm>
            <a:off x="594360" y="6428232"/>
            <a:ext cx="1828800" cy="22860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1000" b="1">
                <a:solidFill>
                  <a:srgbClr val="98A2B3"/>
                </a:solidFill>
                <a:latin typeface="Noto Sans Thai"/>
                <a:ea typeface="Noto Sans Thai"/>
                <a:cs typeface="Noto Sans Thai"/>
              </a:rPr>
              <a:t>02</a:t>
            </a:r>
            <a:endParaRPr lang="th-TH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 w="9525">
            <a:solidFill>
              <a:srgbClr val="F7F7F5"/>
            </a:solidFill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94360" y="310896"/>
            <a:ext cx="6400800" cy="32004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1100" b="1">
                <a:solidFill>
                  <a:srgbClr val="2563EB"/>
                </a:solidFill>
                <a:latin typeface="Noto Sans Thai"/>
                <a:ea typeface="Noto Sans Thai"/>
                <a:cs typeface="Noto Sans Thai"/>
              </a:rPr>
              <a:t>Software Developer Assignment / Part 1</a:t>
            </a:r>
            <a:endParaRPr lang="th-TH" sz="1100"/>
          </a:p>
        </p:txBody>
      </p:sp>
      <p:sp>
        <p:nvSpPr>
          <p:cNvPr id="4" name="Text 4"/>
          <p:cNvSpPr txBox="1"/>
          <p:nvPr/>
        </p:nvSpPr>
        <p:spPr>
          <a:xfrm>
            <a:off x="9326880" y="310896"/>
            <a:ext cx="2194560" cy="32004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th-TH" sz="900" b="1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Process &amp; System Optimization</a:t>
            </a:r>
            <a:endParaRPr lang="th-TH" sz="900"/>
          </a:p>
        </p:txBody>
      </p:sp>
      <p:sp>
        <p:nvSpPr>
          <p:cNvPr id="5" name="Text 5"/>
          <p:cNvSpPr txBox="1"/>
          <p:nvPr/>
        </p:nvSpPr>
        <p:spPr>
          <a:xfrm>
            <a:off x="594360" y="960120"/>
            <a:ext cx="5623560" cy="150876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3800" b="1">
                <a:solidFill>
                  <a:srgbClr val="171717"/>
                </a:solidFill>
                <a:latin typeface="Noto Sans Thai"/>
                <a:ea typeface="Noto Sans Thai"/>
                <a:cs typeface="Noto Sans Thai"/>
              </a:rPr>
              <a:t>Approach: แยกของกลางออกจากสิ่งที่เปลี่ยนตามโปรเจกต์</a:t>
            </a:r>
            <a:endParaRPr lang="th-TH" sz="3800"/>
          </a:p>
        </p:txBody>
      </p:sp>
      <p:sp>
        <p:nvSpPr>
          <p:cNvPr id="6" name="Text 6"/>
          <p:cNvSpPr txBox="1"/>
          <p:nvPr/>
        </p:nvSpPr>
        <p:spPr>
          <a:xfrm>
            <a:off x="621792" y="2542032"/>
            <a:ext cx="5394960" cy="77724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170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สร้าง reusable foundation หรือ starter kit แล้วให้แต่ละโปรเจกต์เปลี่ยนเฉพาะ config และ business rule</a:t>
            </a:r>
            <a:endParaRPr lang="th-TH" sz="1700"/>
          </a:p>
        </p:txBody>
      </p:sp>
      <p:sp>
        <p:nvSpPr>
          <p:cNvPr id="7" name="Shape 7"/>
          <p:cNvSpPr/>
          <p:nvPr/>
        </p:nvSpPr>
        <p:spPr>
          <a:xfrm>
            <a:off x="594360" y="3520440"/>
            <a:ext cx="53492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C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822960" y="3639312"/>
            <a:ext cx="4846320" cy="33832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Shared components: button, form, modal, table, card, gallery</a:t>
            </a:r>
            <a:endParaRPr lang="th-TH" sz="1400"/>
          </a:p>
        </p:txBody>
      </p:sp>
      <p:sp>
        <p:nvSpPr>
          <p:cNvPr id="9" name="Shape 9"/>
          <p:cNvSpPr/>
          <p:nvPr/>
        </p:nvSpPr>
        <p:spPr>
          <a:xfrm>
            <a:off x="594360" y="4233672"/>
            <a:ext cx="53492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C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822960" y="4352544"/>
            <a:ext cx="4846320" cy="33832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Feature modules: auth guard, CRUD, search, pagination, moderation</a:t>
            </a:r>
            <a:endParaRPr lang="th-TH" sz="1400"/>
          </a:p>
        </p:txBody>
      </p:sp>
      <p:sp>
        <p:nvSpPr>
          <p:cNvPr id="11" name="Shape 11"/>
          <p:cNvSpPr/>
          <p:nvPr/>
        </p:nvSpPr>
        <p:spPr>
          <a:xfrm>
            <a:off x="594360" y="4946904"/>
            <a:ext cx="53492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C"/>
            </a:solidFill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822960" y="5065776"/>
            <a:ext cx="4846320" cy="33832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Project config: design tokens, routes, copywriting, feature flags, business logic</a:t>
            </a:r>
            <a:endParaRPr lang="th-TH" sz="1400"/>
          </a:p>
        </p:txBody>
      </p:sp>
      <p:sp>
        <p:nvSpPr>
          <p:cNvPr id="13" name="Shape 13"/>
          <p:cNvSpPr/>
          <p:nvPr/>
        </p:nvSpPr>
        <p:spPr>
          <a:xfrm>
            <a:off x="6446520" y="1234440"/>
            <a:ext cx="484632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C"/>
            </a:solidFill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6812280" y="1600200"/>
            <a:ext cx="4114800" cy="41148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2000" b="1">
                <a:solidFill>
                  <a:srgbClr val="171717"/>
                </a:solidFill>
                <a:latin typeface="Noto Sans Thai"/>
                <a:ea typeface="Noto Sans Thai"/>
                <a:cs typeface="Noto Sans Thai"/>
              </a:rPr>
              <a:t>Architecture Layer</a:t>
            </a:r>
            <a:endParaRPr lang="th-TH" sz="2000"/>
          </a:p>
        </p:txBody>
      </p:sp>
      <p:sp>
        <p:nvSpPr>
          <p:cNvPr id="15" name="Text 15"/>
          <p:cNvSpPr txBox="1"/>
          <p:nvPr/>
        </p:nvSpPr>
        <p:spPr>
          <a:xfrm>
            <a:off x="6903720" y="2331720"/>
            <a:ext cx="3840480" cy="38404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Project Config</a:t>
            </a:r>
            <a:endParaRPr lang="th-TH" sz="1400"/>
          </a:p>
        </p:txBody>
      </p:sp>
      <p:sp>
        <p:nvSpPr>
          <p:cNvPr id="16" name="Text 16"/>
          <p:cNvSpPr txBox="1"/>
          <p:nvPr/>
        </p:nvSpPr>
        <p:spPr>
          <a:xfrm>
            <a:off x="6903720" y="2898648"/>
            <a:ext cx="3840480" cy="38404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Feature Modules</a:t>
            </a:r>
            <a:endParaRPr lang="th-TH" sz="1400"/>
          </a:p>
        </p:txBody>
      </p:sp>
      <p:sp>
        <p:nvSpPr>
          <p:cNvPr id="17" name="Text 17"/>
          <p:cNvSpPr txBox="1"/>
          <p:nvPr/>
        </p:nvSpPr>
        <p:spPr>
          <a:xfrm>
            <a:off x="6903720" y="3465576"/>
            <a:ext cx="3840480" cy="38404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Shared Components</a:t>
            </a:r>
            <a:endParaRPr lang="th-TH" sz="1400"/>
          </a:p>
        </p:txBody>
      </p:sp>
      <p:sp>
        <p:nvSpPr>
          <p:cNvPr id="18" name="Text 18"/>
          <p:cNvSpPr txBox="1"/>
          <p:nvPr/>
        </p:nvSpPr>
        <p:spPr>
          <a:xfrm>
            <a:off x="6903720" y="4032504"/>
            <a:ext cx="3840480" cy="38404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Starter Kit / Template</a:t>
            </a:r>
            <a:endParaRPr lang="th-TH" sz="1400"/>
          </a:p>
        </p:txBody>
      </p:sp>
      <p:cxnSp>
        <p:nvCxnSpPr>
          <p:cNvPr id="19" name="Line 19"/>
          <p:cNvCxnSpPr/>
          <p:nvPr/>
        </p:nvCxnSpPr>
        <p:spPr>
          <a:xfrm>
            <a:off x="594360" y="6355080"/>
            <a:ext cx="10972800" cy="0"/>
          </a:xfrm>
          <a:prstGeom prst="line">
            <a:avLst/>
          </a:prstGeom>
          <a:ln w="25400">
            <a:solidFill>
              <a:srgbClr val="E4E7EC"/>
            </a:solidFill>
          </a:ln>
        </p:spPr>
      </p:cxnSp>
      <p:sp>
        <p:nvSpPr>
          <p:cNvPr id="20" name="Text 20"/>
          <p:cNvSpPr txBox="1"/>
          <p:nvPr/>
        </p:nvSpPr>
        <p:spPr>
          <a:xfrm>
            <a:off x="594360" y="6428232"/>
            <a:ext cx="1828800" cy="22860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1000" b="1">
                <a:solidFill>
                  <a:srgbClr val="98A2B3"/>
                </a:solidFill>
                <a:latin typeface="Noto Sans Thai"/>
                <a:ea typeface="Noto Sans Thai"/>
                <a:cs typeface="Noto Sans Thai"/>
              </a:rPr>
              <a:t>03</a:t>
            </a:r>
            <a:endParaRPr lang="th-TH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 w="9525">
            <a:solidFill>
              <a:srgbClr val="F7F7F5"/>
            </a:solidFill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94360" y="310896"/>
            <a:ext cx="6400800" cy="32004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1100" b="1">
                <a:solidFill>
                  <a:srgbClr val="2563EB"/>
                </a:solidFill>
                <a:latin typeface="Noto Sans Thai"/>
                <a:ea typeface="Noto Sans Thai"/>
                <a:cs typeface="Noto Sans Thai"/>
              </a:rPr>
              <a:t>Software Developer Assignment / Part 1</a:t>
            </a:r>
            <a:endParaRPr lang="th-TH" sz="1100"/>
          </a:p>
        </p:txBody>
      </p:sp>
      <p:sp>
        <p:nvSpPr>
          <p:cNvPr id="4" name="Text 4"/>
          <p:cNvSpPr txBox="1"/>
          <p:nvPr/>
        </p:nvSpPr>
        <p:spPr>
          <a:xfrm>
            <a:off x="9326880" y="310896"/>
            <a:ext cx="2194560" cy="32004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th-TH" sz="900" b="1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Process &amp; System Optimization</a:t>
            </a:r>
            <a:endParaRPr lang="th-TH" sz="900"/>
          </a:p>
        </p:txBody>
      </p:sp>
      <p:sp>
        <p:nvSpPr>
          <p:cNvPr id="5" name="Text 5"/>
          <p:cNvSpPr txBox="1"/>
          <p:nvPr/>
        </p:nvSpPr>
        <p:spPr>
          <a:xfrm>
            <a:off x="594360" y="960120"/>
            <a:ext cx="5623560" cy="150876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3800" b="1">
                <a:solidFill>
                  <a:srgbClr val="171717"/>
                </a:solidFill>
                <a:latin typeface="Noto Sans Thai"/>
                <a:ea typeface="Noto Sans Thai"/>
                <a:cs typeface="Noto Sans Thai"/>
              </a:rPr>
              <a:t>Architecture Choice: monorepo หรือ template repo</a:t>
            </a:r>
            <a:endParaRPr lang="th-TH" sz="3800"/>
          </a:p>
        </p:txBody>
      </p:sp>
      <p:sp>
        <p:nvSpPr>
          <p:cNvPr id="6" name="Text 6"/>
          <p:cNvSpPr txBox="1"/>
          <p:nvPr/>
        </p:nvSpPr>
        <p:spPr>
          <a:xfrm>
            <a:off x="621792" y="2542032"/>
            <a:ext cx="5394960" cy="77724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170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เลือกตามขนาดทีมและรูปแบบการดูแลโปรเจกต์ ไม่จำเป็นต้องมีคำตอบเดียวสำหรับทุกทีม</a:t>
            </a:r>
            <a:endParaRPr lang="th-TH" sz="1700"/>
          </a:p>
        </p:txBody>
      </p:sp>
      <p:sp>
        <p:nvSpPr>
          <p:cNvPr id="7" name="Shape 7"/>
          <p:cNvSpPr/>
          <p:nvPr/>
        </p:nvSpPr>
        <p:spPr>
          <a:xfrm>
            <a:off x="594360" y="3520440"/>
            <a:ext cx="53492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C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822960" y="3639312"/>
            <a:ext cx="4846320" cy="33832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Monorepo เหมาะกับหลายโปรเจกต์ที่ต้องแชร์ package และ version ร่วมกัน</a:t>
            </a:r>
            <a:endParaRPr lang="th-TH" sz="1400"/>
          </a:p>
        </p:txBody>
      </p:sp>
      <p:sp>
        <p:nvSpPr>
          <p:cNvPr id="9" name="Shape 9"/>
          <p:cNvSpPr/>
          <p:nvPr/>
        </p:nvSpPr>
        <p:spPr>
          <a:xfrm>
            <a:off x="594360" y="4233672"/>
            <a:ext cx="53492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C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822960" y="4352544"/>
            <a:ext cx="4846320" cy="33832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Template repository เหมาะกับทีมเล็กหรือโปรเจกต์ที่ส่งมอบแยกกัน</a:t>
            </a:r>
            <a:endParaRPr lang="th-TH" sz="1400"/>
          </a:p>
        </p:txBody>
      </p:sp>
      <p:sp>
        <p:nvSpPr>
          <p:cNvPr id="11" name="Shape 11"/>
          <p:cNvSpPr/>
          <p:nvPr/>
        </p:nvSpPr>
        <p:spPr>
          <a:xfrm>
            <a:off x="594360" y="4946904"/>
            <a:ext cx="53492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C"/>
            </a:solidFill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822960" y="5065776"/>
            <a:ext cx="4846320" cy="33832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Scaffolding ช่วย generate route, CRUD, form schema, validation และ test template</a:t>
            </a:r>
            <a:endParaRPr lang="th-TH" sz="1400"/>
          </a:p>
        </p:txBody>
      </p:sp>
      <p:sp>
        <p:nvSpPr>
          <p:cNvPr id="13" name="Shape 13"/>
          <p:cNvSpPr/>
          <p:nvPr/>
        </p:nvSpPr>
        <p:spPr>
          <a:xfrm>
            <a:off x="6446520" y="1234440"/>
            <a:ext cx="484632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C"/>
            </a:solidFill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6812280" y="1600200"/>
            <a:ext cx="4114800" cy="41148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2000" b="1">
                <a:solidFill>
                  <a:srgbClr val="171717"/>
                </a:solidFill>
                <a:latin typeface="Noto Sans Thai"/>
                <a:ea typeface="Noto Sans Thai"/>
                <a:cs typeface="Noto Sans Thai"/>
              </a:rPr>
              <a:t>Decision Rule</a:t>
            </a:r>
            <a:endParaRPr lang="th-TH" sz="2000"/>
          </a:p>
        </p:txBody>
      </p:sp>
      <p:sp>
        <p:nvSpPr>
          <p:cNvPr id="15" name="Text 15"/>
          <p:cNvSpPr txBox="1"/>
          <p:nvPr/>
        </p:nvSpPr>
        <p:spPr>
          <a:xfrm>
            <a:off x="6903720" y="2331720"/>
            <a:ext cx="3840480" cy="38404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เริ่มง่ายก่อนถ้าทีมเล็ก</a:t>
            </a:r>
            <a:endParaRPr lang="th-TH" sz="1400"/>
          </a:p>
        </p:txBody>
      </p:sp>
      <p:sp>
        <p:nvSpPr>
          <p:cNvPr id="16" name="Text 16"/>
          <p:cNvSpPr txBox="1"/>
          <p:nvPr/>
        </p:nvSpPr>
        <p:spPr>
          <a:xfrm>
            <a:off x="6903720" y="2898648"/>
            <a:ext cx="3840480" cy="38404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ย้ายเป็น monorepo เมื่อ pattern นิ่ง</a:t>
            </a:r>
            <a:endParaRPr lang="th-TH" sz="1400"/>
          </a:p>
        </p:txBody>
      </p:sp>
      <p:sp>
        <p:nvSpPr>
          <p:cNvPr id="17" name="Text 17"/>
          <p:cNvSpPr txBox="1"/>
          <p:nvPr/>
        </p:nvSpPr>
        <p:spPr>
          <a:xfrm>
            <a:off x="6903720" y="3465576"/>
            <a:ext cx="3840480" cy="38404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ไม่ abstract ทุกอย่างตั้งแต่วันแรก</a:t>
            </a:r>
            <a:endParaRPr lang="th-TH" sz="1400"/>
          </a:p>
        </p:txBody>
      </p:sp>
      <p:cxnSp>
        <p:nvCxnSpPr>
          <p:cNvPr id="18" name="Line 18"/>
          <p:cNvCxnSpPr/>
          <p:nvPr/>
        </p:nvCxnSpPr>
        <p:spPr>
          <a:xfrm>
            <a:off x="594360" y="6355080"/>
            <a:ext cx="10972800" cy="0"/>
          </a:xfrm>
          <a:prstGeom prst="line">
            <a:avLst/>
          </a:prstGeom>
          <a:ln w="25400">
            <a:solidFill>
              <a:srgbClr val="E4E7EC"/>
            </a:solidFill>
          </a:ln>
        </p:spPr>
      </p:cxnSp>
      <p:sp>
        <p:nvSpPr>
          <p:cNvPr id="19" name="Text 19"/>
          <p:cNvSpPr txBox="1"/>
          <p:nvPr/>
        </p:nvSpPr>
        <p:spPr>
          <a:xfrm>
            <a:off x="594360" y="6428232"/>
            <a:ext cx="1828800" cy="22860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1000" b="1">
                <a:solidFill>
                  <a:srgbClr val="98A2B3"/>
                </a:solidFill>
                <a:latin typeface="Noto Sans Thai"/>
                <a:ea typeface="Noto Sans Thai"/>
                <a:cs typeface="Noto Sans Thai"/>
              </a:rPr>
              <a:t>04</a:t>
            </a:r>
            <a:endParaRPr lang="th-TH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 w="9525">
            <a:solidFill>
              <a:srgbClr val="F7F7F5"/>
            </a:solidFill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94360" y="310896"/>
            <a:ext cx="6400800" cy="32004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1100" b="1">
                <a:solidFill>
                  <a:srgbClr val="2563EB"/>
                </a:solidFill>
                <a:latin typeface="Noto Sans Thai"/>
                <a:ea typeface="Noto Sans Thai"/>
                <a:cs typeface="Noto Sans Thai"/>
              </a:rPr>
              <a:t>Software Developer Assignment / Part 1</a:t>
            </a:r>
            <a:endParaRPr lang="th-TH" sz="1100"/>
          </a:p>
        </p:txBody>
      </p:sp>
      <p:sp>
        <p:nvSpPr>
          <p:cNvPr id="4" name="Text 4"/>
          <p:cNvSpPr txBox="1"/>
          <p:nvPr/>
        </p:nvSpPr>
        <p:spPr>
          <a:xfrm>
            <a:off x="9326880" y="310896"/>
            <a:ext cx="2194560" cy="32004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th-TH" sz="900" b="1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Process &amp; System Optimization</a:t>
            </a:r>
            <a:endParaRPr lang="th-TH" sz="900"/>
          </a:p>
        </p:txBody>
      </p:sp>
      <p:sp>
        <p:nvSpPr>
          <p:cNvPr id="5" name="Text 5"/>
          <p:cNvSpPr txBox="1"/>
          <p:nvPr/>
        </p:nvSpPr>
        <p:spPr>
          <a:xfrm>
            <a:off x="594360" y="960120"/>
            <a:ext cx="5623560" cy="150876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3800" b="1">
                <a:solidFill>
                  <a:srgbClr val="171717"/>
                </a:solidFill>
                <a:latin typeface="Noto Sans Thai"/>
                <a:ea typeface="Noto Sans Thai"/>
                <a:cs typeface="Noto Sans Thai"/>
              </a:rPr>
              <a:t>Testing &amp; Quality Gate: ตรวจเฉพาะสิ่งที่เปลี่ยน</a:t>
            </a:r>
            <a:endParaRPr lang="th-TH" sz="3800"/>
          </a:p>
        </p:txBody>
      </p:sp>
      <p:sp>
        <p:nvSpPr>
          <p:cNvPr id="6" name="Text 6"/>
          <p:cNvSpPr txBox="1"/>
          <p:nvPr/>
        </p:nvSpPr>
        <p:spPr>
          <a:xfrm>
            <a:off x="621792" y="2542032"/>
            <a:ext cx="5394960" cy="77724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170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ของที่พิสูจน์แล้วว่าใช้ได้ ไม่ควรถูกตรวจซ้ำจากศูนย์ทุกโปรเจกต์</a:t>
            </a:r>
            <a:endParaRPr lang="th-TH" sz="1700"/>
          </a:p>
        </p:txBody>
      </p:sp>
      <p:sp>
        <p:nvSpPr>
          <p:cNvPr id="7" name="Shape 7"/>
          <p:cNvSpPr/>
          <p:nvPr/>
        </p:nvSpPr>
        <p:spPr>
          <a:xfrm>
            <a:off x="594360" y="3520440"/>
            <a:ext cx="53492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C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822960" y="3639312"/>
            <a:ext cx="4846320" cy="33832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Component contract: states, accessibility, responsive behavior</a:t>
            </a:r>
            <a:endParaRPr lang="th-TH" sz="1400"/>
          </a:p>
        </p:txBody>
      </p:sp>
      <p:sp>
        <p:nvSpPr>
          <p:cNvPr id="9" name="Shape 9"/>
          <p:cNvSpPr/>
          <p:nvPr/>
        </p:nvSpPr>
        <p:spPr>
          <a:xfrm>
            <a:off x="594360" y="4233672"/>
            <a:ext cx="53492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C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822960" y="4352544"/>
            <a:ext cx="4846320" cy="33832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Automated smoke test: login, CRUD, validation, publish flow, search, pagination</a:t>
            </a:r>
            <a:endParaRPr lang="th-TH" sz="1400"/>
          </a:p>
        </p:txBody>
      </p:sp>
      <p:sp>
        <p:nvSpPr>
          <p:cNvPr id="11" name="Shape 11"/>
          <p:cNvSpPr/>
          <p:nvPr/>
        </p:nvSpPr>
        <p:spPr>
          <a:xfrm>
            <a:off x="594360" y="4946904"/>
            <a:ext cx="53492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C"/>
            </a:solidFill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822960" y="5065776"/>
            <a:ext cx="4846320" cy="33832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Visual QA checklist: spacing, typography, mobile overflow, loading, empty, error state</a:t>
            </a:r>
            <a:endParaRPr lang="th-TH" sz="1400"/>
          </a:p>
        </p:txBody>
      </p:sp>
      <p:sp>
        <p:nvSpPr>
          <p:cNvPr id="13" name="Shape 13"/>
          <p:cNvSpPr/>
          <p:nvPr/>
        </p:nvSpPr>
        <p:spPr>
          <a:xfrm>
            <a:off x="6446520" y="1234440"/>
            <a:ext cx="484632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C"/>
            </a:solidFill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6812280" y="1600200"/>
            <a:ext cx="4114800" cy="41148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2000" b="1">
                <a:solidFill>
                  <a:srgbClr val="171717"/>
                </a:solidFill>
                <a:latin typeface="Noto Sans Thai"/>
                <a:ea typeface="Noto Sans Thai"/>
                <a:cs typeface="Noto Sans Thai"/>
              </a:rPr>
              <a:t>Outcome</a:t>
            </a:r>
            <a:endParaRPr lang="th-TH" sz="2000"/>
          </a:p>
        </p:txBody>
      </p:sp>
      <p:sp>
        <p:nvSpPr>
          <p:cNvPr id="15" name="Text 15"/>
          <p:cNvSpPr txBox="1"/>
          <p:nvPr/>
        </p:nvSpPr>
        <p:spPr>
          <a:xfrm>
            <a:off x="6903720" y="2331720"/>
            <a:ext cx="3840480" cy="38404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ลด bug ซ้ำ</a:t>
            </a:r>
            <a:endParaRPr lang="th-TH" sz="1400"/>
          </a:p>
        </p:txBody>
      </p:sp>
      <p:sp>
        <p:nvSpPr>
          <p:cNvPr id="16" name="Text 16"/>
          <p:cNvSpPr txBox="1"/>
          <p:nvPr/>
        </p:nvSpPr>
        <p:spPr>
          <a:xfrm>
            <a:off x="6903720" y="2898648"/>
            <a:ext cx="3840480" cy="38404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QA เร็วขึ้น</a:t>
            </a:r>
            <a:endParaRPr lang="th-TH" sz="1400"/>
          </a:p>
        </p:txBody>
      </p:sp>
      <p:sp>
        <p:nvSpPr>
          <p:cNvPr id="17" name="Text 17"/>
          <p:cNvSpPr txBox="1"/>
          <p:nvPr/>
        </p:nvSpPr>
        <p:spPr>
          <a:xfrm>
            <a:off x="6903720" y="3465576"/>
            <a:ext cx="3840480" cy="38404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คุณภาพคาดเดาได้</a:t>
            </a:r>
            <a:endParaRPr lang="th-TH" sz="1400"/>
          </a:p>
        </p:txBody>
      </p:sp>
      <p:sp>
        <p:nvSpPr>
          <p:cNvPr id="18" name="Text 18"/>
          <p:cNvSpPr txBox="1"/>
          <p:nvPr/>
        </p:nvSpPr>
        <p:spPr>
          <a:xfrm>
            <a:off x="6903720" y="4032504"/>
            <a:ext cx="3840480" cy="38404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Onboarding คนใหม่ง่ายขึ้น</a:t>
            </a:r>
            <a:endParaRPr lang="th-TH" sz="1400"/>
          </a:p>
        </p:txBody>
      </p:sp>
      <p:cxnSp>
        <p:nvCxnSpPr>
          <p:cNvPr id="19" name="Line 19"/>
          <p:cNvCxnSpPr/>
          <p:nvPr/>
        </p:nvCxnSpPr>
        <p:spPr>
          <a:xfrm>
            <a:off x="594360" y="6355080"/>
            <a:ext cx="10972800" cy="0"/>
          </a:xfrm>
          <a:prstGeom prst="line">
            <a:avLst/>
          </a:prstGeom>
          <a:ln w="25400">
            <a:solidFill>
              <a:srgbClr val="E4E7EC"/>
            </a:solidFill>
          </a:ln>
        </p:spPr>
      </p:cxnSp>
      <p:sp>
        <p:nvSpPr>
          <p:cNvPr id="20" name="Text 20"/>
          <p:cNvSpPr txBox="1"/>
          <p:nvPr/>
        </p:nvSpPr>
        <p:spPr>
          <a:xfrm>
            <a:off x="594360" y="6428232"/>
            <a:ext cx="1828800" cy="22860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1000" b="1">
                <a:solidFill>
                  <a:srgbClr val="98A2B3"/>
                </a:solidFill>
                <a:latin typeface="Noto Sans Thai"/>
                <a:ea typeface="Noto Sans Thai"/>
                <a:cs typeface="Noto Sans Thai"/>
              </a:rPr>
              <a:t>05</a:t>
            </a:r>
            <a:endParaRPr lang="th-TH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 w="9525">
            <a:solidFill>
              <a:srgbClr val="F7F7F5"/>
            </a:solidFill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594360" y="310896"/>
            <a:ext cx="6400800" cy="32004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1100" b="1">
                <a:solidFill>
                  <a:srgbClr val="2563EB"/>
                </a:solidFill>
                <a:latin typeface="Noto Sans Thai"/>
                <a:ea typeface="Noto Sans Thai"/>
                <a:cs typeface="Noto Sans Thai"/>
              </a:rPr>
              <a:t>Software Developer Assignment / Part 1</a:t>
            </a:r>
            <a:endParaRPr lang="th-TH" sz="1100"/>
          </a:p>
        </p:txBody>
      </p:sp>
      <p:sp>
        <p:nvSpPr>
          <p:cNvPr id="4" name="Text 4"/>
          <p:cNvSpPr txBox="1"/>
          <p:nvPr/>
        </p:nvSpPr>
        <p:spPr>
          <a:xfrm>
            <a:off x="9326880" y="310896"/>
            <a:ext cx="2194560" cy="32004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r">
              <a:buNone/>
            </a:pPr>
            <a:r>
              <a:rPr lang="th-TH" sz="900" b="1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Process &amp; System Optimization</a:t>
            </a:r>
            <a:endParaRPr lang="th-TH" sz="900"/>
          </a:p>
        </p:txBody>
      </p:sp>
      <p:sp>
        <p:nvSpPr>
          <p:cNvPr id="5" name="Text 5"/>
          <p:cNvSpPr txBox="1"/>
          <p:nvPr/>
        </p:nvSpPr>
        <p:spPr>
          <a:xfrm>
            <a:off x="594360" y="960120"/>
            <a:ext cx="5623560" cy="150876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3800" b="1">
                <a:solidFill>
                  <a:srgbClr val="171717"/>
                </a:solidFill>
                <a:latin typeface="Noto Sans Thai"/>
                <a:ea typeface="Noto Sans Thai"/>
                <a:cs typeface="Noto Sans Thai"/>
              </a:rPr>
              <a:t>Trade-off &amp; Conclusion</a:t>
            </a:r>
            <a:endParaRPr lang="th-TH" sz="3800"/>
          </a:p>
        </p:txBody>
      </p:sp>
      <p:sp>
        <p:nvSpPr>
          <p:cNvPr id="6" name="Text 6"/>
          <p:cNvSpPr txBox="1"/>
          <p:nvPr/>
        </p:nvSpPr>
        <p:spPr>
          <a:xfrm>
            <a:off x="621792" y="2542032"/>
            <a:ext cx="5394960" cy="77724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170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ลงทุนกับ foundation ก่อน เพื่อให้โปรเจกต์ถัดไปเร็วขึ้นและนิ่งขึ้น</a:t>
            </a:r>
            <a:endParaRPr lang="th-TH" sz="1700"/>
          </a:p>
        </p:txBody>
      </p:sp>
      <p:sp>
        <p:nvSpPr>
          <p:cNvPr id="7" name="Shape 7"/>
          <p:cNvSpPr/>
          <p:nvPr/>
        </p:nvSpPr>
        <p:spPr>
          <a:xfrm>
            <a:off x="594360" y="3520440"/>
            <a:ext cx="53492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C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822960" y="3639312"/>
            <a:ext cx="4846320" cy="33832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ข้อดี: เริ่มเร็วขึ้น, UI/UX สม่ำเสมอ, ลด bug ซ้ำ, ลด QA ซ้ำ</a:t>
            </a:r>
            <a:endParaRPr lang="th-TH" sz="1400"/>
          </a:p>
        </p:txBody>
      </p:sp>
      <p:sp>
        <p:nvSpPr>
          <p:cNvPr id="9" name="Shape 9"/>
          <p:cNvSpPr/>
          <p:nvPr/>
        </p:nvSpPr>
        <p:spPr>
          <a:xfrm>
            <a:off x="594360" y="4233672"/>
            <a:ext cx="53492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C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822960" y="4352544"/>
            <a:ext cx="4846320" cy="33832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ข้อจำกัด: ต้องลงทุนทำ documentation, test setup และมาตรฐานกลางก่อน</a:t>
            </a:r>
            <a:endParaRPr lang="th-TH" sz="1400"/>
          </a:p>
        </p:txBody>
      </p:sp>
      <p:sp>
        <p:nvSpPr>
          <p:cNvPr id="11" name="Shape 11"/>
          <p:cNvSpPr/>
          <p:nvPr/>
        </p:nvSpPr>
        <p:spPr>
          <a:xfrm>
            <a:off x="594360" y="4946904"/>
            <a:ext cx="53492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C"/>
            </a:solidFill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822960" y="5065776"/>
            <a:ext cx="4846320" cy="33832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ลดความเสี่ยงโดยเริ่มจากส่วนที่ใช้ซ้ำจริง เช่น form, modal, table, validation, design tokens</a:t>
            </a:r>
            <a:endParaRPr lang="th-TH" sz="1400"/>
          </a:p>
        </p:txBody>
      </p:sp>
      <p:sp>
        <p:nvSpPr>
          <p:cNvPr id="13" name="Shape 13"/>
          <p:cNvSpPr/>
          <p:nvPr/>
        </p:nvSpPr>
        <p:spPr>
          <a:xfrm>
            <a:off x="6446520" y="1234440"/>
            <a:ext cx="484632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4E7EC"/>
            </a:solidFill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6812280" y="1600200"/>
            <a:ext cx="4114800" cy="41148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2000" b="1">
                <a:solidFill>
                  <a:srgbClr val="171717"/>
                </a:solidFill>
                <a:latin typeface="Noto Sans Thai"/>
                <a:ea typeface="Noto Sans Thai"/>
                <a:cs typeface="Noto Sans Thai"/>
              </a:rPr>
              <a:t>Final Thought</a:t>
            </a:r>
            <a:endParaRPr lang="th-TH" sz="2000"/>
          </a:p>
        </p:txBody>
      </p:sp>
      <p:sp>
        <p:nvSpPr>
          <p:cNvPr id="15" name="Text 15"/>
          <p:cNvSpPr txBox="1"/>
          <p:nvPr/>
        </p:nvSpPr>
        <p:spPr>
          <a:xfrm>
            <a:off x="6903720" y="2331720"/>
            <a:ext cx="3840480" cy="38404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Common foundation</a:t>
            </a:r>
            <a:endParaRPr lang="th-TH" sz="1400"/>
          </a:p>
        </p:txBody>
      </p:sp>
      <p:sp>
        <p:nvSpPr>
          <p:cNvPr id="16" name="Text 16"/>
          <p:cNvSpPr txBox="1"/>
          <p:nvPr/>
        </p:nvSpPr>
        <p:spPr>
          <a:xfrm>
            <a:off x="6903720" y="2898648"/>
            <a:ext cx="3840480" cy="38404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Business-specific logic</a:t>
            </a:r>
            <a:endParaRPr lang="th-TH" sz="1400"/>
          </a:p>
        </p:txBody>
      </p:sp>
      <p:sp>
        <p:nvSpPr>
          <p:cNvPr id="17" name="Text 17"/>
          <p:cNvSpPr txBox="1"/>
          <p:nvPr/>
        </p:nvSpPr>
        <p:spPr>
          <a:xfrm>
            <a:off x="6903720" y="3465576"/>
            <a:ext cx="3840480" cy="38404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พิสูจน์แล้วไม่ตรวจซ้ำจากศูนย์</a:t>
            </a:r>
            <a:endParaRPr lang="th-TH" sz="1400"/>
          </a:p>
        </p:txBody>
      </p:sp>
      <p:sp>
        <p:nvSpPr>
          <p:cNvPr id="18" name="Text 18"/>
          <p:cNvSpPr txBox="1"/>
          <p:nvPr/>
        </p:nvSpPr>
        <p:spPr>
          <a:xfrm>
            <a:off x="6903720" y="4032504"/>
            <a:ext cx="3840480" cy="384048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 marL="342900" indent="-171450">
              <a:buChar char="•"/>
            </a:pPr>
            <a:r>
              <a:rPr lang="th-TH" sz="1400">
                <a:solidFill>
                  <a:srgbClr val="344054"/>
                </a:solidFill>
                <a:latin typeface="Noto Sans Thai"/>
                <a:ea typeface="Noto Sans Thai"/>
                <a:cs typeface="Noto Sans Thai"/>
              </a:rPr>
              <a:t>ทีมโฟกัส requirement ลูกค้ามากขึ้น</a:t>
            </a:r>
            <a:endParaRPr lang="th-TH" sz="1400"/>
          </a:p>
        </p:txBody>
      </p:sp>
      <p:cxnSp>
        <p:nvCxnSpPr>
          <p:cNvPr id="19" name="Line 19"/>
          <p:cNvCxnSpPr/>
          <p:nvPr/>
        </p:nvCxnSpPr>
        <p:spPr>
          <a:xfrm>
            <a:off x="594360" y="6355080"/>
            <a:ext cx="10972800" cy="0"/>
          </a:xfrm>
          <a:prstGeom prst="line">
            <a:avLst/>
          </a:prstGeom>
          <a:ln w="25400">
            <a:solidFill>
              <a:srgbClr val="E4E7EC"/>
            </a:solidFill>
          </a:ln>
        </p:spPr>
      </p:cxnSp>
      <p:sp>
        <p:nvSpPr>
          <p:cNvPr id="20" name="Text 20"/>
          <p:cNvSpPr txBox="1"/>
          <p:nvPr/>
        </p:nvSpPr>
        <p:spPr>
          <a:xfrm>
            <a:off x="594360" y="6428232"/>
            <a:ext cx="1828800" cy="228600"/>
          </a:xfrm>
          <a:noFill/>
          <a:ln>
            <a:noFill/>
          </a:ln>
        </p:spPr>
        <p:txBody>
          <a:bodyPr wrap="square" lIns="0" tIns="0" rIns="0" bIns="0"/>
          <a:lstStyle/>
          <a:p>
            <a:pPr algn="l">
              <a:buNone/>
            </a:pPr>
            <a:r>
              <a:rPr lang="th-TH" sz="1000" b="1">
                <a:solidFill>
                  <a:srgbClr val="98A2B3"/>
                </a:solidFill>
                <a:latin typeface="Noto Sans Thai"/>
                <a:ea typeface="Noto Sans Thai"/>
                <a:cs typeface="Noto Sans Thai"/>
              </a:rPr>
              <a:t>06</a:t>
            </a:r>
            <a:endParaRPr lang="th-TH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an">
  <a:themeElements>
    <a:clrScheme name="Clean">
      <a:dk1>
        <a:srgbClr val="171717"/>
      </a:dk1>
      <a:lt1>
        <a:srgbClr val="FFFFFF"/>
      </a:lt1>
      <a:dk2>
        <a:srgbClr val="344054"/>
      </a:dk2>
      <a:lt2>
        <a:srgbClr val="F7F7F5"/>
      </a:lt2>
      <a:accent1>
        <a:srgbClr val="2563EB"/>
      </a:accent1>
      <a:accent2>
        <a:srgbClr val="16A34A"/>
      </a:accent2>
      <a:accent3>
        <a:srgbClr val="D97706"/>
      </a:accent3>
      <a:accent4>
        <a:srgbClr val="667085"/>
      </a:accent4>
      <a:accent5>
        <a:srgbClr val="98A2B3"/>
      </a:accent5>
      <a:accent6>
        <a:srgbClr val="E4E7EC"/>
      </a:accent6>
      <a:hlink>
        <a:srgbClr val="2563EB"/>
      </a:hlink>
      <a:folHlink>
        <a:srgbClr val="1D4ED8"/>
      </a:folHlink>
    </a:clrScheme>
    <a:fontScheme name="Clean">
      <a:majorFont>
        <a:latin typeface="Noto Sans Thai"/>
        <a:ea typeface="Noto Sans Thai"/>
        <a:cs typeface="Noto Sans Thai"/>
      </a:majorFont>
      <a:minorFont>
        <a:latin typeface="Noto Sans Thai"/>
        <a:ea typeface="Noto Sans Thai"/>
        <a:cs typeface="Noto Sans Thai"/>
      </a:minorFont>
    </a:fontScheme>
    <a:fmtScheme name="Clea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PowerPoint</Application>
  <PresentationFormat>On-screen Show (16:9)</PresentationFormat>
  <Slides>6</Slides>
  <ScaleCrop>false</ScaleCrop>
  <HeadingPairs>
    <vt:vector size="2" baseType="variant">
      <vt:variant>
        <vt:lpstr>Slides</vt:lpstr>
      </vt:variant>
      <vt:variant>
        <vt:i4>6</vt:i4>
      </vt:variant>
    </vt:vector>
  </HeadingPairs>
  <TitlesOfParts>
    <vt:vector size="6" baseType="lpstr">
      <vt:lpstr>Slide 1</vt:lpstr>
      <vt:lpstr>Slide 2</vt:lpstr>
      <vt:lpstr>Slide 3</vt:lpstr>
      <vt:lpstr>Slide 4</vt:lpstr>
      <vt:lpstr>Slide 5</vt:lpstr>
      <vt:lpstr>Slide 6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&amp; System Optimization</dc:title>
  <dc:creator>apzen24</dc:creator>
  <cp:lastModifiedBy>apzen24</cp:lastModifiedBy>
  <dcterms:created xsi:type="dcterms:W3CDTF">2026-06-19T09:28:14.973747+00:00</dcterms:created>
  <dcterms:modified xsi:type="dcterms:W3CDTF">2026-06-19T09:28:14.973747+00:00</dcterms:modified>
</cp:coreProperties>
</file>